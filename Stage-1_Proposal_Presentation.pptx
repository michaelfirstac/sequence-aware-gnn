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2918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SCIE6062001 – COMPUTATIONAL BIOLOGY | STAGE 1: PROPOSAL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Sequence-Aware Graph Neural Networks</a:t>
            </a:r>
            <a:br/>
            <a:r>
              <a:t>for Protein–Protein Interaction Prediction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Segoe UI"/>
              </a:defRPr>
            </a:pPr>
            <a:r>
              <a:t>Investigating Inductive Generalization to Unseen Target Proteins via Deep &amp; Classical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1206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D9488"/>
                </a:solidFill>
                <a:latin typeface="Segoe UI"/>
              </a:defRPr>
            </a:pPr>
            <a:r>
              <a:t>Topic Domain: Systems Biology &amp; Networks (Topic 12) + Machine Learning &amp; AI in Biology (Topic 20)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Presented by: Student Group (2 Students) | Academic Year: Odd Semester 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FOUNDATIONAL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Biological Motivation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Biological Importance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Protein-Protein Interactions (PPIs) govern vital cellular mechanisms: signal transduction, enzymatic cascades, and disease pathways.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Experimental assays (Yeast Two-Hybrid, Co-IP, Cryo-EM) are laborious, high-cost, and heavily biased toward previously studied proteins.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Over 80% of human proteins remain under-characterized in interaction 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Computational Limitation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Standard Graph Neural Networks (GCNs/GATs) rely purely on graph topology (node degrees and neighborhood adjacency).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The Transductive Trap: In standard random split evaluations, models simply memorize graph shortcuts.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Inductive Failure: When tested on 'cold' proteins (zero or few known edges in the graph), topology-only models collapse.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Our Research Question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Hypothesis: Amino acid sequences encode intrinsic physicochemical properties (binding motifs, surface charge, hydrophobicity).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By fusing Transformer language model embeddings (ESM-2) and classical biophysical features with GNN message passing, we can preserve prediction accuracy on unseen proteins.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Goal: Scientifically quantify the performance gap between structure-only and sequence-aware models across both transductive and inductive splits.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FORMAL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Mathematical Background &amp; Algorithmic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Graph Convolutional Message Passing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Graph Definition: G = (V, E, X) with N = 17,328 proteins and M = 316,034 edges.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Message Passing Layer (Kipf &amp; Welling, 2017):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h_v^(l+1) = ReLU( sum_{u in N(v) U {v}} (d_v * d_u)^(-0.5) * W^(l) * h_u^(l) 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Pairwise Dot-Product Decoder: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y_hat_uv = sigma( z_u . z_v 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Binary Cross-Entropy Loss with Negative Sampling: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L = - sum_{(u,v) in E+} log(y_hat_uv) - sum_{(u,v) in E-} log(1 - y_hat_uv)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Negative sampling: 1:1 ratio dynamically drawn from non-interacting pairs.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Sequence Features &amp; Alignment Theory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Amino Acid Composition (20-dim):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f(a) = count(a) / L,  for standard amino acids a in {A, C, D ... Y}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Tripeptide Frequencies (8,000-dim reduced to 64-dim via PCA):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f(a_1 a_2 a_3) = count(a_1 a_2 a_3) / (L - 2)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Local Alignment (Smith-Waterman Algorithm with BLOSUM62):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H(i,j) = max(0, H(i-1,j-1) + s(a_i, b_j), H(i-k,j) - W_k, H(i,j-l) - W_l)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Sequence Identity Formulation: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Identity(A, B) = Aligned_Identities / Local_Alignment_Length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Strict Out-of-Distribution Check: Verifies that test proteins have &lt; 30% sequence identity to training set (Twilight Zone).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Proposed Technical Architecture &amp;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Step 1: Data Harmonization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Extract human PPI subnetwork from PrimeKG (17,328 nodes, 316,034 edges). Bridge NCBI Gene IDs to UniProtKB canonical accessions; retrieve full FASTA sequences.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Step 2: Dual Sequence Modeling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Deep Track: 480-dim mean-pooled representations from ESM-2 (35M parameters).</a:t>
            </a:r>
            <a:br/>
            <a:r>
              <a:t>Classical Track: 20-dim AA composition + 64-dim PCA tripeptides (84-dim total).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Step 3: Graph Neural Processing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Construct PyG Data objects with node features initialized by sequence representations. 2-layer GCN &amp; GAT with DotProductDecoder and dropout regularization.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Step 4: Multi-Model Ablation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Benchmarking across 5 model paradigms:</a:t>
            </a:r>
            <a:br/>
            <a:r>
              <a:t>1. Structure-only GCN</a:t>
            </a:r>
            <a:br/>
            <a:r>
              <a:t>2. ESM-2 Sequence-only MLP</a:t>
            </a:r>
            <a:br/>
            <a:r>
              <a:t>3. Sequence + Structure GCN</a:t>
            </a:r>
            <a:br/>
            <a:r>
              <a:t>4. Classical + Structure GCN</a:t>
            </a:r>
            <a:br/>
            <a:r>
              <a:t>5. Random Forest &amp; LogReg baselines.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VALIDATION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Experimental Design &amp; Leakage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Dual-Splitting Protocol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Transductive Random Split (70% Train / 15% Val / 15% Test):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    • Edges held out randomly across the graph.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    • Tests model ability to impute missing links between familiar proteins.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Inductive Cold-Protein Split: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    • Completely withholds 15% of entire proteins from training message-passing graph.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    • Edges touching held-out proteins go strictly to test set.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    • Simulates real-world discovery: predicting interactions for a brand new target protein.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Zero-Leakage Message Passing: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    • Val/Test positive edges are strictly removed from the adjacency matrix during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Homology Leakage Verification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The Biological Concern: If test proteins are paralogs/homologs of training proteins, high test accuracy is an artifact of sequence memorization.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Our Empirical Audit (125,000 Smith-Waterman Alignments):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    • Sampled 500 cold test proteins and aligned against 250 training proteins.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    • Mean Max Sequence Identity: 23.37% ± 6.88%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    • Median Max Identity: 21.66%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    • 91.2% of test proteins have &lt; 30% identity (Twilight Zone)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    • Only 0.4% show close homology (&gt;= 70%)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</a:defRPr>
            </a:pPr>
            <a:r>
              <a:t>Conclusion: Confirms true inductive evaluation with zero homology contamination.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EMPIRICAL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Preliminary Experimental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Completed Ablation Results (PrimeKG Human PPI Network)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Empirical Proof of Concept (Evaluated across 316,034 interaction pairs):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Random Split (Interpolation):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  - GCN Structure Only: 0.8782 AUC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  - GCN + ESM-2 Sequences: 0.8871 AUC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  - GCN + Classical Sequences: 0.8896 AUC (Top Transductive Performance)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Cold-Protein Split (Extrapolation / Unseen Target Generalization):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  - GCN Structure Only: drops to 0.7628 AUC (Severe Topological Collapse)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  - GCN + ESM-2 Sequences: 0.7857 AUC (+2.29% Generalization Gain)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  - GCN + Classical Sequences: 0.8290 AUC (+6.62% Generalization Gain)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Baseline Comparisons: Classical Sequence Random Forest achieves 0.8204 on random split, but crashes to 0.6691 on cold split.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Takeaway: Both deep transformer embeddings and classical physicochemical profiles provide essential inductive bias that prevents GNN failure on novel proteins.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EXECUTION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Milestone Timeline &amp; Implementation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Milestone 1: Stage 1 Proposal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Status: COMPLETED</a:t>
            </a:r>
            <a:br/>
            <a:r>
              <a:t>• Problem formalization &amp; math formulation</a:t>
            </a:r>
            <a:br/>
            <a:r>
              <a:t>• Data ingestion (PrimeKG &amp; UniProt)</a:t>
            </a:r>
            <a:br/>
            <a:r>
              <a:t>• Dual sequence feature extraction</a:t>
            </a:r>
            <a:br/>
            <a:r>
              <a:t>• Preliminary ablation proof of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Milestone 2: Stage 2 Progress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Status: IN PROGRESS</a:t>
            </a:r>
            <a:br/>
            <a:r>
              <a:t>• Network statistics (degree power-law, clustering, hub proteins)</a:t>
            </a:r>
            <a:br/>
            <a:r>
              <a:t>• 5-seed robustness tests with Wilcoxon signed-rank p-values</a:t>
            </a:r>
            <a:br/>
            <a:r>
              <a:t>• STRING physical PPI cross-dataset replication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Milestone 3: Final Deliverable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Status: SCHEDULED (Session 13)</a:t>
            </a:r>
            <a:br/>
            <a:r>
              <a:t>• Single master notebook run_all.ipynb (&lt; 10 min CPU demo)</a:t>
            </a:r>
            <a:br/>
            <a:r>
              <a:t>• Publication-ready 300 DPI figures</a:t>
            </a:r>
            <a:br/>
            <a:r>
              <a:t>• Complete 4-6 page double-column IEEE format final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Academic Literature &amp;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1. Chandak, P., Huang, K., &amp; Zitnik, M. (2023). Building a knowledge graph to enable precision medicine. Nature Scientific Data, 10(1), 67. [PrimeKG]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2. Lin, Z., Akin, H., Rao, R., et al. (2023). Evolutionary-scale prediction of atomic-level protein structure with a language model. Science, 379(6637), 1123-1130. [ESM-2]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3. Kipf, T. N., &amp; Welling, M. (2017). Semi-Supervised Classification with Graph Convolutional Networks. International Conference on Learning Representations (ICLR). [GCN]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4. Szklarczyk, D., Kirsch, R., Koutrouli, M., et al. (2023). The STRING database in 2023: protein-protein association networks with increased coverage of context-specific interactions. Nucleic Acids Research, 51(D1), D638-D646. [STRING v12.0]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5. Smith, T. F., &amp; Waterman, M. S. (1981). Identification of common molecular subsequences. Journal of Molecular Biology, 147(1), 195-197. [Smith-Waterman Alignment]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6. Cock, P. J., Antao, T., Chang, J. T., et al. (2009). Biopython: freely available Python tools for computational molecular biology and bioinformatics. Bioinformatics, 25(11), 1422-1423. [Biopython]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